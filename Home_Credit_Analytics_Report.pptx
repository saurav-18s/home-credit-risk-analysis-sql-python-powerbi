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29" r:id="rId1"/>
  </p:sldMasterIdLst>
  <p:sldIdLst>
    <p:sldId id="256" r:id="rId2"/>
    <p:sldId id="257" r:id="rId3"/>
    <p:sldId id="267" r:id="rId4"/>
    <p:sldId id="258" r:id="rId5"/>
    <p:sldId id="260" r:id="rId6"/>
    <p:sldId id="261" r:id="rId7"/>
    <p:sldId id="268" r:id="rId8"/>
    <p:sldId id="262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E81123"/>
    <a:srgbClr val="B30000"/>
    <a:srgbClr val="002060"/>
    <a:srgbClr val="118DFF"/>
    <a:srgbClr val="F8F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527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828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16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22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416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339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441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926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16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88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3568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804828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466574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550244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3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971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00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518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586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6495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9/18/2026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328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3814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574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34898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1175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822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863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  <p:sldLayoutId id="2147483841" r:id="rId12"/>
    <p:sldLayoutId id="2147483842" r:id="rId13"/>
    <p:sldLayoutId id="2147483843" r:id="rId14"/>
    <p:sldLayoutId id="2147483844" r:id="rId15"/>
    <p:sldLayoutId id="2147483845" r:id="rId16"/>
    <p:sldLayoutId id="2147483846" r:id="rId17"/>
    <p:sldLayoutId id="2147483847" r:id="rId18"/>
    <p:sldLayoutId id="2147483848" r:id="rId19"/>
    <p:sldLayoutId id="2147483849" r:id="rId20"/>
    <p:sldLayoutId id="2147483850" r:id="rId21"/>
    <p:sldLayoutId id="2147483851" r:id="rId22"/>
    <p:sldLayoutId id="2147483852" r:id="rId23"/>
    <p:sldLayoutId id="2147483853" r:id="rId24"/>
    <p:sldLayoutId id="2147483854" r:id="rId25"/>
    <p:sldLayoutId id="2147483855" r:id="rId26"/>
    <p:sldLayoutId id="2147483856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7.png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8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urav-18s" TargetMode="External"/><Relationship Id="rId7" Type="http://schemas.openxmlformats.org/officeDocument/2006/relationships/image" Target="../media/image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hyperlink" Target="https://www.linkedin.com/in/saurav-singh-1844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934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334011"/>
            <a:ext cx="9521190" cy="155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sz="5100" b="0" i="0" u="none" dirty="0">
                <a:solidFill>
                  <a:srgbClr val="0F172A"/>
                </a:solidFill>
                <a:latin typeface="Montserrat ExtraBold"/>
              </a:rPr>
              <a:t>Home Credit Default Risk</a:t>
            </a:r>
            <a:r>
              <a:rPr dirty="0"/>
              <a:t>
</a:t>
            </a:r>
            <a:r>
              <a:rPr sz="5100" b="0" i="0" u="none" dirty="0">
                <a:solidFill>
                  <a:srgbClr val="2563EB"/>
                </a:solidFill>
                <a:latin typeface="Montserrat ExtraBold"/>
              </a:rPr>
              <a:t>Business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1267" y="3086100"/>
            <a:ext cx="906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475569"/>
                </a:solidFill>
                <a:latin typeface="Inter Medium"/>
              </a:rPr>
              <a:t>Analyzing the demographic and financial profiles of loan applicants to evaluate how their past credit history impacts current default likelihood.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5F9B2-44AA-22A0-86B9-0520856F8475}"/>
              </a:ext>
            </a:extLst>
          </p:cNvPr>
          <p:cNvSpPr txBox="1"/>
          <p:nvPr/>
        </p:nvSpPr>
        <p:spPr>
          <a:xfrm>
            <a:off x="694267" y="4562143"/>
            <a:ext cx="453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Presented by: </a:t>
            </a:r>
            <a:r>
              <a:rPr lang="en-IN" b="1" dirty="0"/>
              <a:t>Saurav Singh</a:t>
            </a:r>
            <a:endParaRPr lang="en-IN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FF6356-A7F1-81D5-1985-3E5262928365}"/>
              </a:ext>
            </a:extLst>
          </p:cNvPr>
          <p:cNvSpPr txBox="1"/>
          <p:nvPr/>
        </p:nvSpPr>
        <p:spPr>
          <a:xfrm>
            <a:off x="694267" y="4962113"/>
            <a:ext cx="356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Analyst</a:t>
            </a:r>
            <a:endParaRPr lang="en-I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828800"/>
            <a:ext cx="3333750" cy="449282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1828800"/>
            <a:ext cx="3333750" cy="449282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1828800"/>
            <a:ext cx="3333750" cy="44928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Arial Black" panose="020B0A04020102020204" pitchFamily="34" charset="0"/>
              </a:rPr>
              <a:t>Technical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23950"/>
            <a:ext cx="52101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 Medium"/>
              </a:rPr>
              <a:t>Data processing, modeling, and visualization architecture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" y="2219325"/>
            <a:ext cx="619125" cy="619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2525" y="3076575"/>
            <a:ext cx="268033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1E293B"/>
                </a:solidFill>
                <a:latin typeface="Montserrat"/>
              </a:rPr>
              <a:t>1. Data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470820"/>
            <a:ext cx="2552700" cy="1517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475569"/>
                </a:solidFill>
                <a:latin typeface="Inter"/>
              </a:rPr>
              <a:t>Processed a massive dataset of </a:t>
            </a:r>
            <a:r>
              <a:rPr sz="1275" b="1" i="0" u="none" dirty="0">
                <a:solidFill>
                  <a:srgbClr val="475569"/>
                </a:solidFill>
                <a:latin typeface="Inter"/>
              </a:rPr>
              <a:t>307,</a:t>
            </a:r>
            <a:r>
              <a:rPr lang="en-IN" sz="1275" b="1" i="0" u="none" dirty="0">
                <a:solidFill>
                  <a:srgbClr val="475569"/>
                </a:solidFill>
                <a:latin typeface="Inter"/>
              </a:rPr>
              <a:t>511</a:t>
            </a:r>
            <a:r>
              <a:rPr sz="1275" b="1" i="0" u="none" dirty="0">
                <a:solidFill>
                  <a:srgbClr val="475569"/>
                </a:solidFill>
                <a:latin typeface="Inter"/>
              </a:rPr>
              <a:t> loan applicants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. Transformed raw columns (e.g., converting negative 'DAYS_BIRTH' to exact 'AGE_IN_YEARS') to create analyzable demographic features.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9650" y="2219325"/>
            <a:ext cx="619125" cy="6191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19650" y="3076575"/>
            <a:ext cx="268033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1E293B"/>
                </a:solidFill>
                <a:latin typeface="Montserrat"/>
              </a:rPr>
              <a:t>2. Advanced SQL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9650" y="3722191"/>
            <a:ext cx="2552700" cy="2030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 dirty="0">
                <a:solidFill>
                  <a:srgbClr val="475569"/>
                </a:solidFill>
                <a:latin typeface="Inter"/>
              </a:rPr>
              <a:t>Utilized advanced SQL CTEs and Window Functions:</a:t>
            </a:r>
            <a:r>
              <a:rPr dirty="0"/>
              <a:t>
</a:t>
            </a:r>
            <a:r>
              <a:rPr lang="en-IN" sz="1280" b="1" dirty="0"/>
              <a:t>ROW_NUMBER OVER(PARTITION </a:t>
            </a:r>
          </a:p>
          <a:p>
            <a:pPr algn="l">
              <a:lnSpc>
                <a:spcPts val="2039"/>
              </a:lnSpc>
            </a:pPr>
            <a:r>
              <a:rPr lang="en-IN" sz="1280" b="1" dirty="0"/>
              <a:t>BY…)</a:t>
            </a:r>
            <a:r>
              <a:rPr dirty="0"/>
              <a:t>
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Handled complex many-to-many relationships and deduplicated historical records to ensure 100% data integrity.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6775" y="2219325"/>
            <a:ext cx="619125" cy="619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86775" y="3076575"/>
            <a:ext cx="2680335" cy="502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1" i="0" u="none">
                <a:solidFill>
                  <a:srgbClr val="1E293B"/>
                </a:solidFill>
                <a:latin typeface="Montserrat"/>
              </a:rPr>
              <a:t>3. Executive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6775" y="3722191"/>
            <a:ext cx="2552700" cy="1553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Designed an interactive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Power BI dashboard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featuring dynamic slicers and aggregated macroeconomic risk indicators, tracking a total monitored portfolio of </a:t>
            </a:r>
            <a:r>
              <a:rPr sz="1275" b="1" i="0" u="none">
                <a:solidFill>
                  <a:srgbClr val="475569"/>
                </a:solidFill>
                <a:latin typeface="Inter"/>
              </a:rPr>
              <a:t>$184.14 Billion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8737" y="2395537"/>
            <a:ext cx="26670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10150" y="2395537"/>
            <a:ext cx="238125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1550" y="4258451"/>
            <a:ext cx="2552700" cy="502741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2987" y="2395537"/>
            <a:ext cx="266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The image is a blank, white canvas.">
            <a:extLst>
              <a:ext uri="{FF2B5EF4-FFF2-40B4-BE49-F238E27FC236}">
                <a16:creationId xmlns:a16="http://schemas.microsoft.com/office/drawing/2014/main" id="{51054171-5D28-C36C-9D04-3EC79FD39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413545"/>
            <a:ext cx="2667000" cy="173727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275" y="2413545"/>
            <a:ext cx="2374850" cy="173727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875" y="2413545"/>
            <a:ext cx="2374850" cy="173727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5475" y="2413545"/>
            <a:ext cx="2374850" cy="1737270"/>
          </a:xfrm>
          <a:prstGeom prst="rect">
            <a:avLst/>
          </a:prstGeom>
          <a:effectLst>
            <a:innerShdw blurRad="63500" dist="50800" dir="2700000">
              <a:prstClr val="black">
                <a:alpha val="50000"/>
              </a:prstClr>
            </a:innerShdw>
          </a:effectLst>
        </p:spPr>
      </p:pic>
      <p:sp>
        <p:nvSpPr>
          <p:cNvPr id="7" name="TextBox 6"/>
          <p:cNvSpPr txBox="1"/>
          <p:nvPr/>
        </p:nvSpPr>
        <p:spPr>
          <a:xfrm>
            <a:off x="771525" y="793402"/>
            <a:ext cx="11181397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sz="3600" b="1" i="0" u="none" dirty="0">
                <a:solidFill>
                  <a:srgbClr val="0F172A"/>
                </a:solidFill>
                <a:latin typeface="Arial Black" panose="020B0A04020102020204" pitchFamily="34" charset="0"/>
              </a:rPr>
              <a:t>Platform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4" y="1280715"/>
            <a:ext cx="631507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High-level financial exposure and primary risk indicators post-filtration.</a:t>
            </a:r>
            <a:endParaRPr sz="1500" b="0" i="0" u="none" dirty="0">
              <a:solidFill>
                <a:schemeClr val="tx1">
                  <a:lumMod val="50000"/>
                  <a:lumOff val="50000"/>
                </a:schemeClr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876" y="2804070"/>
            <a:ext cx="2380297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400" dirty="0">
                <a:solidFill>
                  <a:srgbClr val="118DFF"/>
                </a:solidFill>
                <a:latin typeface="Montserrat ExtraBold" panose="00000900000000000000" pitchFamily="2" charset="0"/>
              </a:rPr>
              <a:t>307.4K</a:t>
            </a:r>
            <a:endParaRPr sz="4050" b="1" i="0" u="none" dirty="0">
              <a:solidFill>
                <a:srgbClr val="118DFF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8400" y="3516510"/>
            <a:ext cx="1879599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200" dirty="0">
                <a:latin typeface="Montserrat" panose="00000500000000000000" pitchFamily="2" charset="0"/>
              </a:rPr>
              <a:t>TOTAL APPLICANTS</a:t>
            </a:r>
            <a:endParaRPr sz="1200" b="0" i="0" u="none" dirty="0">
              <a:solidFill>
                <a:srgbClr val="475569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24275" y="2804071"/>
            <a:ext cx="2371725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400" dirty="0">
                <a:solidFill>
                  <a:srgbClr val="118DFF"/>
                </a:solidFill>
                <a:latin typeface="Montserrat ExtraBold" panose="00000900000000000000" pitchFamily="2" charset="0"/>
              </a:rPr>
              <a:t>$184.B</a:t>
            </a:r>
            <a:endParaRPr sz="4050" b="1" i="0" u="none" dirty="0">
              <a:solidFill>
                <a:srgbClr val="118DFF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91523" y="3516510"/>
            <a:ext cx="1737777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200" dirty="0">
                <a:latin typeface="Montserrat" panose="00000500000000000000" pitchFamily="2" charset="0"/>
              </a:rPr>
              <a:t>TOTAL DISBURSED</a:t>
            </a:r>
            <a:endParaRPr sz="1200" b="0" i="0" u="none" dirty="0">
              <a:solidFill>
                <a:srgbClr val="475569"/>
              </a:solidFill>
              <a:latin typeface="Montserrat" panose="00000500000000000000" pitchFamily="2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12106" y="2804070"/>
            <a:ext cx="192024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400" dirty="0">
                <a:solidFill>
                  <a:srgbClr val="E81123"/>
                </a:solidFill>
                <a:latin typeface="Montserrat ExtraBold" panose="00000900000000000000" pitchFamily="2" charset="0"/>
              </a:rPr>
              <a:t>$13.8B</a:t>
            </a:r>
            <a:endParaRPr sz="4050" b="1" i="0" u="none" dirty="0">
              <a:solidFill>
                <a:srgbClr val="E81123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57838" y="3516510"/>
            <a:ext cx="1628775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200" dirty="0">
                <a:latin typeface="Montserrat" panose="00000500000000000000" pitchFamily="2" charset="0"/>
              </a:rPr>
              <a:t>CAPITAL AT RISK</a:t>
            </a:r>
            <a:endParaRPr sz="1200" b="0" i="0" u="none" dirty="0">
              <a:solidFill>
                <a:srgbClr val="475569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45475" y="2804070"/>
            <a:ext cx="237485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rgbClr val="E81123"/>
                </a:solidFill>
                <a:latin typeface="Montserrat ExtraBold" panose="00000900000000000000" pitchFamily="2" charset="0"/>
              </a:rPr>
              <a:t>76.0%</a:t>
            </a:r>
            <a:r>
              <a:rPr lang="en-IN" sz="4400" dirty="0">
                <a:solidFill>
                  <a:srgbClr val="E81123"/>
                </a:solidFill>
                <a:latin typeface="Montserrat ExtraBold" panose="00000900000000000000" pitchFamily="2" charset="0"/>
              </a:rPr>
              <a:t> </a:t>
            </a:r>
            <a:endParaRPr sz="4050" b="1" i="0" u="none" dirty="0">
              <a:solidFill>
                <a:srgbClr val="E81123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32688" y="3516510"/>
            <a:ext cx="215761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IN" sz="1200" dirty="0">
                <a:latin typeface="Montserrat" panose="00000500000000000000" pitchFamily="2" charset="0"/>
              </a:rPr>
              <a:t>LOSS FROM 'SECONDARY EDUCATION'</a:t>
            </a:r>
            <a:endParaRPr sz="1200" b="0" i="0" u="none" dirty="0">
              <a:solidFill>
                <a:srgbClr val="475569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3750" y="2009775"/>
            <a:ext cx="4000500" cy="40005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Arial Black" panose="020B0A04020102020204" pitchFamily="34" charset="0"/>
              </a:rPr>
              <a:t>Capital Leakage in Core Demos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23950"/>
            <a:ext cx="45434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 Medium"/>
              </a:rPr>
              <a:t>High applicant volume does not equal high quality.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348123"/>
            <a:ext cx="5660707" cy="243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Volume vs.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66107"/>
            <a:ext cx="561975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Applicants with a 'Secondary / secondary special' education make up the bulk of the portfolio with </a:t>
            </a:r>
            <a:r>
              <a:rPr sz="12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218,358 applications</a:t>
            </a: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71900"/>
            <a:ext cx="5660707" cy="228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1575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bold" panose="020B0702040204020203" pitchFamily="34" charset="0"/>
              </a:rPr>
              <a:t>The Financial Drain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82317"/>
            <a:ext cx="5619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Inter"/>
              </a:rPr>
              <a:t>This specific demographic accounts for a staggering </a:t>
            </a:r>
            <a:r>
              <a:rPr sz="1350" b="1" i="0" u="none">
                <a:solidFill>
                  <a:srgbClr val="DC2626"/>
                </a:solidFill>
                <a:latin typeface="Inter"/>
              </a:rPr>
              <a:t>76% of all defaulted money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, equating to a massive </a:t>
            </a:r>
            <a:r>
              <a:rPr sz="1350" b="1" i="0" u="none">
                <a:solidFill>
                  <a:srgbClr val="0F172A"/>
                </a:solidFill>
                <a:latin typeface="Inter"/>
              </a:rPr>
              <a:t>$10.58 Billion loss</a:t>
            </a:r>
            <a:r>
              <a:rPr sz="1350" b="0" i="0" u="none">
                <a:solidFill>
                  <a:srgbClr val="334155"/>
                </a:solidFill>
                <a:latin typeface="Inter"/>
              </a:rPr>
              <a:t> for the bank.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845285"/>
            <a:ext cx="5660707" cy="228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1575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Actionable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155703"/>
            <a:ext cx="561975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Cap maximum loan-to-value (LTV) ratios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and enforce </a:t>
            </a:r>
            <a:r>
              <a:rPr lang="en-I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mandatory manual risk committees</a:t>
            </a:r>
            <a:r>
              <a:rPr lang="en-IN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for this specific high-volume, high-loss tier.</a:t>
            </a:r>
            <a:endParaRPr sz="1350" b="0" i="0" u="none" dirty="0">
              <a:solidFill>
                <a:schemeClr val="tx1">
                  <a:lumMod val="65000"/>
                  <a:lumOff val="35000"/>
                </a:schemeClr>
              </a:solidFill>
              <a:latin typeface="Inter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403276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519487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92873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09775"/>
            <a:ext cx="4572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0F172A"/>
                </a:solidFill>
                <a:latin typeface="Montserrat"/>
              </a:rPr>
              <a:t>The Danger of Recent Rejections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23950"/>
            <a:ext cx="57816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 Medium"/>
              </a:rPr>
              <a:t>A borrower's recent failure to secure credit is a critical red flag.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25" y="2019300"/>
            <a:ext cx="4552950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2355689"/>
            <a:ext cx="5660707" cy="228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1575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Time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66107"/>
            <a:ext cx="561975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Applicants who had a loan rejected within the last 1 year hold a highly elevated </a:t>
            </a:r>
            <a:r>
              <a:rPr sz="1200" b="1" i="0" u="none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11.88% default rate</a:t>
            </a: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71900"/>
            <a:ext cx="5660707" cy="228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1575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Risk Normalization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82317"/>
            <a:ext cx="5619750" cy="4882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 past rejection is </a:t>
            </a:r>
            <a:r>
              <a:rPr sz="12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older than 1 year</a:t>
            </a: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risk normalizes down significantly to 8.79%, matching standard baseline levels.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588110"/>
            <a:ext cx="5660707" cy="2285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1575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Actionable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98528"/>
            <a:ext cx="5619750" cy="489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Systematically implement a </a:t>
            </a:r>
            <a:r>
              <a:rPr sz="1200" b="1" i="0" u="none" dirty="0">
                <a:solidFill>
                  <a:srgbClr val="0F172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mandatory 12-month "cooling-off" period</a:t>
            </a: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previously rejected applicants before their new applications can be approved.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403276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519487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635698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09775"/>
            <a:ext cx="4572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Arial Black" panose="020B0A04020102020204" pitchFamily="34" charset="0"/>
              </a:rPr>
              <a:t>Occupation-Driven Default Spikes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23950"/>
            <a:ext cx="6153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64748B"/>
                </a:solidFill>
                <a:latin typeface="Inter Medium"/>
              </a:rPr>
              <a:t>Job stability and skill level heavily influence repayment capabilities.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25" y="2019300"/>
            <a:ext cx="4552950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2299317"/>
            <a:ext cx="5660707" cy="243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2000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High-Risk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907" y="2534782"/>
            <a:ext cx="5619750" cy="233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'Low-skill Laborers' are a massive liability, defaulting at a staggering </a:t>
            </a:r>
            <a:r>
              <a:rPr sz="1200" b="1" i="0" u="none" dirty="0">
                <a:solidFill>
                  <a:srgbClr val="DC26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17.18%</a:t>
            </a:r>
            <a:r>
              <a:rPr sz="1200" b="0" i="0" u="none" dirty="0">
                <a:solidFill>
                  <a:srgbClr val="33415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303254"/>
            <a:ext cx="5660707" cy="243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2000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Volume Threat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608199"/>
            <a:ext cx="5619750" cy="519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</a:t>
            </a:r>
            <a:r>
              <a:rPr lang="en-IN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'Managers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account for fewer total defaults, a single defaulting manager costs the bank an average of 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$704k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—the highest per-unit loss.</a:t>
            </a:r>
            <a:endParaRPr sz="12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600" y="4594870"/>
            <a:ext cx="5660707" cy="243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2000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Actionable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99106"/>
            <a:ext cx="5619750" cy="519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 loan sizes for Laborers to stop volume bleeding, and mandate strict collateral checks for 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Managers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prevent severe single-ticket losses.</a:t>
            </a:r>
            <a:endParaRPr sz="12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351160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849" y="3358407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650023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image.png">
            <a:extLst>
              <a:ext uri="{FF2B5EF4-FFF2-40B4-BE49-F238E27FC236}">
                <a16:creationId xmlns:a16="http://schemas.microsoft.com/office/drawing/2014/main" id="{FF6A4D5C-558D-0CAE-69C2-2322E029C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8AC0CC-9F6E-A939-798A-12BDFB7053A6}"/>
              </a:ext>
            </a:extLst>
          </p:cNvPr>
          <p:cNvSpPr txBox="1"/>
          <p:nvPr/>
        </p:nvSpPr>
        <p:spPr>
          <a:xfrm>
            <a:off x="762000" y="579602"/>
            <a:ext cx="1120140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anose="020B0A04020102020204" pitchFamily="34" charset="0"/>
              </a:rPr>
              <a:t>The Underwriting Bottleneck: The 80/20 Rule</a:t>
            </a:r>
            <a:endParaRPr sz="3000" b="1" i="0" u="none" dirty="0">
              <a:solidFill>
                <a:schemeClr val="tx1">
                  <a:lumMod val="95000"/>
                  <a:lumOff val="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9187CE-0556-11FA-AA81-EECA55064639}"/>
              </a:ext>
            </a:extLst>
          </p:cNvPr>
          <p:cNvSpPr txBox="1"/>
          <p:nvPr/>
        </p:nvSpPr>
        <p:spPr>
          <a:xfrm>
            <a:off x="762000" y="1123950"/>
            <a:ext cx="5505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Eliminating predictable rejections to save manual underwriting bandwidth.</a:t>
            </a:r>
            <a:endParaRPr sz="1500" b="0" i="0" u="none" dirty="0">
              <a:solidFill>
                <a:schemeClr val="tx1">
                  <a:lumMod val="50000"/>
                  <a:lumOff val="50000"/>
                </a:schemeClr>
              </a:solidFill>
              <a:latin typeface="Inter Medium"/>
            </a:endParaRP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7E9086B9-C4F5-1B9C-1D20-821ADC1C3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309894"/>
            <a:ext cx="133350" cy="133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4E89AA-9199-F9B4-73B3-92EDCA08DDA2}"/>
              </a:ext>
            </a:extLst>
          </p:cNvPr>
          <p:cNvSpPr txBox="1"/>
          <p:nvPr/>
        </p:nvSpPr>
        <p:spPr>
          <a:xfrm>
            <a:off x="990600" y="2196438"/>
            <a:ext cx="5619751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000" b="1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Hyper-Concentration</a:t>
            </a:r>
            <a:endParaRPr sz="2000" b="1" i="0" u="none" dirty="0">
              <a:solidFill>
                <a:srgbClr val="2563EB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6D554-6B6C-1A1B-CBA4-8D1FAEAE48C4}"/>
              </a:ext>
            </a:extLst>
          </p:cNvPr>
          <p:cNvSpPr txBox="1"/>
          <p:nvPr/>
        </p:nvSpPr>
        <p:spPr>
          <a:xfrm>
            <a:off x="762000" y="2572975"/>
            <a:ext cx="5619750" cy="519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rejection pipeline is highly skewed, with internal rules (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'HC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') and limit caps (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'LIMIT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') driving </a:t>
            </a:r>
            <a:r>
              <a:rPr lang="en-IN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79.4%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all loan refusals.</a:t>
            </a:r>
            <a:endParaRPr sz="12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FD6F7D43-D880-15B2-11BF-07725D0F1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519487"/>
            <a:ext cx="133350" cy="1333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5E547A0-4510-AC28-A0C7-E1EA666F9E84}"/>
              </a:ext>
            </a:extLst>
          </p:cNvPr>
          <p:cNvSpPr txBox="1"/>
          <p:nvPr/>
        </p:nvSpPr>
        <p:spPr>
          <a:xfrm>
            <a:off x="990600" y="3432274"/>
            <a:ext cx="566070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000" b="1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Efficiency Drain</a:t>
            </a:r>
            <a:endParaRPr b="1" i="0" u="none" dirty="0">
              <a:solidFill>
                <a:srgbClr val="2563EB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C99966-F738-50B9-9A1A-73AB82239966}"/>
              </a:ext>
            </a:extLst>
          </p:cNvPr>
          <p:cNvSpPr txBox="1"/>
          <p:nvPr/>
        </p:nvSpPr>
        <p:spPr>
          <a:xfrm>
            <a:off x="762000" y="3818666"/>
            <a:ext cx="5619750" cy="519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Processing applications that are destined to fail due to internal limit caps wastes massive underwriting bandwidth.</a:t>
            </a:r>
            <a:endParaRPr sz="12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66641278-0888-230F-5B9B-079C29DF4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55323"/>
            <a:ext cx="133350" cy="1333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696D08F-3C20-5463-DA19-EDB8CE03261A}"/>
              </a:ext>
            </a:extLst>
          </p:cNvPr>
          <p:cNvSpPr txBox="1"/>
          <p:nvPr/>
        </p:nvSpPr>
        <p:spPr>
          <a:xfrm>
            <a:off x="990600" y="4668110"/>
            <a:ext cx="5660707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IN" sz="2000" b="1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Actionable Opportunity</a:t>
            </a:r>
            <a:endParaRPr b="1" i="0" u="none" dirty="0">
              <a:solidFill>
                <a:srgbClr val="2563EB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A0ED36-AD90-9CD5-304D-F780DBF00DBE}"/>
              </a:ext>
            </a:extLst>
          </p:cNvPr>
          <p:cNvSpPr txBox="1"/>
          <p:nvPr/>
        </p:nvSpPr>
        <p:spPr>
          <a:xfrm>
            <a:off x="771525" y="5093603"/>
            <a:ext cx="5619750" cy="5198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a "Pre-Approved Limit" slider to the application UI. This prevents over-requesting and instantly eliminates the 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19%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waste from </a:t>
            </a:r>
            <a:r>
              <a:rPr lang="en-IN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'LIMIT</a:t>
            </a:r>
            <a:r>
              <a:rPr lang="en-I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' flags.</a:t>
            </a:r>
            <a:endParaRPr sz="1200" b="0" i="0" u="none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 descr="image.png">
            <a:extLst>
              <a:ext uri="{FF2B5EF4-FFF2-40B4-BE49-F238E27FC236}">
                <a16:creationId xmlns:a16="http://schemas.microsoft.com/office/drawing/2014/main" id="{187E622C-8CE8-F0E6-1F7F-9FA2CB550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525" y="2019300"/>
            <a:ext cx="455295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8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009775"/>
            <a:ext cx="4572000" cy="4000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Credit-to-Income Myth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23950"/>
            <a:ext cx="5505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64748B"/>
                </a:solidFill>
                <a:latin typeface="Inter Medium"/>
              </a:rPr>
              <a:t>High loan amounts aren't the real threat—EMI affordability is.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525" y="2019300"/>
            <a:ext cx="4552950" cy="398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2348123"/>
            <a:ext cx="5660707" cy="243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2000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Insignificant Ratio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666107"/>
            <a:ext cx="5619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The Credit-to-Income ratio for Defaulters (3.88) and Non-Defaulters (3.96) is </a:t>
            </a:r>
            <a:r>
              <a:rPr sz="1350" b="1" i="0" u="none" dirty="0">
                <a:solidFill>
                  <a:srgbClr val="0F172A"/>
                </a:solidFill>
                <a:latin typeface="Inter"/>
              </a:rPr>
              <a:t>virtually identical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464334"/>
            <a:ext cx="5660707" cy="243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2000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The Real Burden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782317"/>
            <a:ext cx="5619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However, the average EMI consumes approximately </a:t>
            </a:r>
            <a:r>
              <a:rPr sz="1350" b="1" i="0" u="none" dirty="0">
                <a:solidFill>
                  <a:srgbClr val="DC2626"/>
                </a:solidFill>
                <a:latin typeface="Inter"/>
              </a:rPr>
              <a:t>16% of a standard client's annual salary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, causing cash flow issues.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4580544"/>
            <a:ext cx="5660707" cy="243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1889"/>
              </a:lnSpc>
            </a:pPr>
            <a:r>
              <a:rPr sz="2000" b="1" i="0" u="none" dirty="0">
                <a:solidFill>
                  <a:srgbClr val="2563EB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Actionable Opportunity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898528"/>
            <a:ext cx="5619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334155"/>
                </a:solidFill>
                <a:latin typeface="Inter"/>
              </a:rPr>
              <a:t>Stop filtering applicants based solely on the principal amount requested; pivot underwriting rules to strictly evaluate </a:t>
            </a:r>
            <a:r>
              <a:rPr sz="1350" b="1" i="0" u="none" dirty="0">
                <a:solidFill>
                  <a:srgbClr val="0F172A"/>
                </a:solidFill>
                <a:latin typeface="Inter"/>
              </a:rPr>
              <a:t>monthly cash flow and EMI burden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403276"/>
            <a:ext cx="133350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3519487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635698"/>
            <a:ext cx="1333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23950"/>
            <a:ext cx="5191125" cy="263544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123950"/>
            <a:ext cx="5191125" cy="263544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45148"/>
            <a:ext cx="5191125" cy="236309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4045148"/>
            <a:ext cx="5191125" cy="23630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571500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0F172A"/>
                </a:solidFill>
                <a:latin typeface="Montserrat"/>
              </a:rPr>
              <a:t>Strategic Business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1419225"/>
            <a:ext cx="4780597" cy="257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 dirty="0">
                <a:solidFill>
                  <a:srgbClr val="0F172A"/>
                </a:solidFill>
                <a:latin typeface="Arial Black" panose="020B0A04020102020204" pitchFamily="34" charset="0"/>
              </a:rPr>
              <a:t>1. Enforce a 12-Month "Cooling"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1834455"/>
            <a:ext cx="455295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00" b="1" i="0" u="none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sz="120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Recent past rejections (&lt;1 year) spike default risk to nearly 12%.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2463105"/>
            <a:ext cx="4552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00" b="1" i="0" u="none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sz="120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Automate hard rejections for any applicant who has been refused a loan in the last 12 months, preventing immediate re-applications.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1419225"/>
            <a:ext cx="4780597" cy="544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 dirty="0">
                <a:solidFill>
                  <a:srgbClr val="0F172A"/>
                </a:solidFill>
                <a:latin typeface="Arial Black" panose="020B0A04020102020204" pitchFamily="34" charset="0"/>
              </a:rPr>
              <a:t>2. Restructure "Secondary Education" Contracts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106810"/>
            <a:ext cx="455295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00" b="1" i="0" u="none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sz="120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76% of all capital lost ($10.58B) stems directly from the 'Secondary Education' demographic.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2735460"/>
            <a:ext cx="45529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sz="120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Enforce strict LTV caps and mandatory manual risk committees for this specific high-volume, high-loss tier to plug portfolio bleeding.</a:t>
            </a:r>
            <a:endParaRPr sz="1200" b="0" i="0" u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4900" y="4340423"/>
            <a:ext cx="484822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1" i="0" u="none" dirty="0">
                <a:solidFill>
                  <a:srgbClr val="0F172A"/>
                </a:solidFill>
                <a:latin typeface="Arial Black" panose="020B0A04020102020204" pitchFamily="34" charset="0"/>
              </a:rPr>
              <a:t>3. </a:t>
            </a:r>
            <a:r>
              <a:rPr lang="en-IN" sz="1650" b="1" dirty="0">
                <a:latin typeface="Arial Black" panose="020B0A04020102020204" pitchFamily="34" charset="0"/>
              </a:rPr>
              <a:t>Deploy Dual Occupation Safeguards</a:t>
            </a:r>
            <a:endParaRPr sz="1650" b="1" i="0" u="none" dirty="0">
              <a:solidFill>
                <a:srgbClr val="0F172A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04900" y="4755653"/>
            <a:ext cx="45529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sz="120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Laborers drive $3.11B in aggregate loss, while Managers cost $704k per individual default.</a:t>
            </a:r>
            <a:endParaRPr sz="1200" b="0" i="0" u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4900" y="5384303"/>
            <a:ext cx="45529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sz="120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 automated loan-size ceilings for high-volume Laborers, and mandate strict asset-backed underwriting for high-ticket Managers.</a:t>
            </a:r>
            <a:endParaRPr sz="1200" b="0" i="0" u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1775" y="4340423"/>
            <a:ext cx="4780597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50" b="1" i="0" u="none" dirty="0">
                <a:solidFill>
                  <a:srgbClr val="0F172A"/>
                </a:solidFill>
                <a:latin typeface="Arial Black" panose="020B0A04020102020204" pitchFamily="34" charset="0"/>
              </a:rPr>
              <a:t>4. </a:t>
            </a:r>
            <a:r>
              <a:rPr lang="en-IN" sz="1650" b="1" dirty="0">
                <a:latin typeface="Arial Black" panose="020B0A04020102020204" pitchFamily="34" charset="0"/>
              </a:rPr>
              <a:t>Optimize the Rejection Pipeline (UI/UX)</a:t>
            </a:r>
            <a:endParaRPr sz="1650" b="1" i="0" u="none" dirty="0">
              <a:latin typeface="Arial Black" panose="020B0A040201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1775" y="4755653"/>
            <a:ext cx="455295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sz="120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79.4% of all refused applications stem from just two internal criteria ('HC' and 'LIMIT’).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7962" y="5384303"/>
            <a:ext cx="455295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1E3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Action:</a:t>
            </a:r>
            <a:r>
              <a:rPr sz="1200" b="0" i="0" u="none" dirty="0">
                <a:solidFill>
                  <a:srgbClr val="47556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 a dynamic limit slider in the application UI to prevent limit-based rejections and save manual underwriting bandwidth.</a:t>
            </a:r>
            <a:endParaRPr sz="1200" b="0" i="0" u="none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946CFE09-3CDA-7795-F533-5EE07C7F2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5300" y="2179290"/>
            <a:ext cx="112014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 dirty="0">
                <a:solidFill>
                  <a:srgbClr val="2563EB"/>
                </a:solidFill>
                <a:latin typeface="Poppi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98490"/>
            <a:ext cx="106680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Ready for Questions and Deep Dives into the Dashboard</a:t>
            </a:r>
          </a:p>
        </p:txBody>
      </p: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86F72DAA-01F7-C887-3319-9B15B8A5C841}"/>
              </a:ext>
            </a:extLst>
          </p:cNvPr>
          <p:cNvSpPr/>
          <p:nvPr/>
        </p:nvSpPr>
        <p:spPr>
          <a:xfrm>
            <a:off x="6807200" y="4078785"/>
            <a:ext cx="1905000" cy="467303"/>
          </a:xfrm>
          <a:prstGeom prst="flowChartAlternateProcess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saurav-18s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F71F84C3-0419-D61B-4563-33BA7042A1FD}"/>
              </a:ext>
            </a:extLst>
          </p:cNvPr>
          <p:cNvSpPr/>
          <p:nvPr/>
        </p:nvSpPr>
        <p:spPr>
          <a:xfrm>
            <a:off x="3388254" y="4078786"/>
            <a:ext cx="2922589" cy="467303"/>
          </a:xfrm>
          <a:prstGeom prst="flowChartAlternateProcess">
            <a:avLst/>
          </a:prstGeom>
          <a:solidFill>
            <a:srgbClr val="F9F9F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 Saurav Singh | LinkedIn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613" y="4214307"/>
            <a:ext cx="20002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311" y="4198136"/>
            <a:ext cx="219075" cy="228600"/>
          </a:xfrm>
          <a:prstGeom prst="rect">
            <a:avLst/>
          </a:prstGeom>
          <a:ln>
            <a:solidFill>
              <a:srgbClr val="2563EB"/>
            </a:solidFill>
          </a:ln>
        </p:spPr>
      </p:pic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FAADA741-C87F-9F12-40AB-5BD3DBE32A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1960215"/>
            <a:ext cx="762000" cy="5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172</TotalTime>
  <Words>846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Arial Black</vt:lpstr>
      <vt:lpstr>Inter</vt:lpstr>
      <vt:lpstr>Inter Medium</vt:lpstr>
      <vt:lpstr>Montserrat</vt:lpstr>
      <vt:lpstr>Montserrat ExtraBold</vt:lpstr>
      <vt:lpstr>Neue Haas Grotesk Text Pro</vt:lpstr>
      <vt:lpstr>Poppins</vt:lpstr>
      <vt:lpstr>Segoe UI Black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saurav singh</dc:creator>
  <cp:keywords/>
  <dc:description>generated using python-pptx</dc:description>
  <cp:lastModifiedBy>saurav singh</cp:lastModifiedBy>
  <cp:revision>5</cp:revision>
  <dcterms:created xsi:type="dcterms:W3CDTF">2013-01-27T09:14:16Z</dcterms:created>
  <dcterms:modified xsi:type="dcterms:W3CDTF">2026-09-18T07:54:52Z</dcterms:modified>
  <cp:category/>
</cp:coreProperties>
</file>